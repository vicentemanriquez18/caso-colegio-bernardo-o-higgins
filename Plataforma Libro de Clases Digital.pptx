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2000"/>
  <p:notesSz cx="6858000" cy="9144000"/>
  <p:embeddedFontLst>
    <p:embeddedFont>
      <p:font typeface="Urbanist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Urbanist-bold.fntdata"/><Relationship Id="rId14" Type="http://schemas.openxmlformats.org/officeDocument/2006/relationships/font" Target="fonts/Urbanist-regular.fntdata"/><Relationship Id="rId17" Type="http://schemas.openxmlformats.org/officeDocument/2006/relationships/font" Target="fonts/Urbanist-boldItalic.fntdata"/><Relationship Id="rId16" Type="http://schemas.openxmlformats.org/officeDocument/2006/relationships/font" Target="fonts/Urbanist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4.png"/><Relationship Id="rId4" Type="http://schemas.openxmlformats.org/officeDocument/2006/relationships/image" Target="../media/image21.png"/><Relationship Id="rId11" Type="http://schemas.openxmlformats.org/officeDocument/2006/relationships/image" Target="../media/image3.png"/><Relationship Id="rId10" Type="http://schemas.openxmlformats.org/officeDocument/2006/relationships/image" Target="../media/image8.png"/><Relationship Id="rId9" Type="http://schemas.openxmlformats.org/officeDocument/2006/relationships/image" Target="../media/image13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.png"/><Relationship Id="rId8" Type="http://schemas.openxmlformats.org/officeDocument/2006/relationships/image" Target="../media/image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4.png"/><Relationship Id="rId4" Type="http://schemas.openxmlformats.org/officeDocument/2006/relationships/image" Target="../media/image7.png"/><Relationship Id="rId5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4.png"/><Relationship Id="rId4" Type="http://schemas.openxmlformats.org/officeDocument/2006/relationships/image" Target="../media/image17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20.png"/><Relationship Id="rId9" Type="http://schemas.openxmlformats.org/officeDocument/2006/relationships/image" Target="../media/image14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Relationship Id="rId7" Type="http://schemas.openxmlformats.org/officeDocument/2006/relationships/image" Target="../media/image23.png"/><Relationship Id="rId8" Type="http://schemas.openxmlformats.org/officeDocument/2006/relationships/image" Target="../media/image2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1028700" y="1350019"/>
            <a:ext cx="10591800" cy="396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CASO SEMESTRAL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28700" y="1889075"/>
            <a:ext cx="11121390" cy="16457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Plataforma de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5400" u="none" cap="none" strike="noStrik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Libro de Clases Digital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1028700" y="3725316"/>
            <a:ext cx="10591800" cy="396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Colegio Bernardo O'Higgins - Arquitectura MVP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28700" y="4502497"/>
            <a:ext cx="105918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Integrantes: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Vicente Manriquez, Davier Ramos, Dilan Micolta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028700" y="4837658"/>
            <a:ext cx="105918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Asignatura: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Desarrollo Fullstack III (DSY1106) | Sec: 002D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028700" y="5172819"/>
            <a:ext cx="105918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Fecha: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09/04/2026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571500" y="571500"/>
            <a:ext cx="55506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Contextualización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3452813" y="1591575"/>
            <a:ext cx="52863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Plataforma digital diseñada para reemplazar registros físicos y sistemas fragmentados. El </a:t>
            </a: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MVP de 3 meses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centraliza procesos clave: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3452813" y="4364540"/>
            <a:ext cx="52863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Conecta a docentes, estudiantes, apoderados y personal administrativo en un entorno unificado y seguro.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3786188" y="2787557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Matrícula y asignación de cursos.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3786188" y="3313218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Registro de asistencia y calificaciones.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3786188" y="3838879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Generación de reportes PDF.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3452813" y="2806607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3452813" y="3332268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3452813" y="3857929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7" name="Google Shape;10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167979"/>
            <a:ext cx="2517725" cy="34745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74975" y="2167979"/>
            <a:ext cx="2517725" cy="34745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78450" y="2167979"/>
            <a:ext cx="2517874" cy="34745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0" name="Google Shape;110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82075" y="2167979"/>
            <a:ext cx="2638425" cy="347454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866775" y="3349079"/>
            <a:ext cx="2023534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Backend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866775" y="3857625"/>
            <a:ext cx="1927175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Java 21 &amp; Spring Boot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Microservicios estructurados, API Gateway y JPA para persistencia eficiente.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3670250" y="3349079"/>
            <a:ext cx="2023534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Frontend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3670250" y="3857625"/>
            <a:ext cx="1927175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React.js &amp; Vite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Interfaces modulares empaquetadas como NPM, optimizando el rendimiento.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6473725" y="3349079"/>
            <a:ext cx="2023690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Datos &amp; Eventos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6473725" y="4223295"/>
            <a:ext cx="1927324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PostgreSQL &amp; RabbitMQ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Motor relacional robusto y mensajería asíncrona para tareas pesadas.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9277350" y="3349079"/>
            <a:ext cx="215026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Infraestructura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9277350" y="3857625"/>
            <a:ext cx="2047875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Docker &amp; Kubernetes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Contenedores aislados y orquestación para escalabilidad y alta disponibilidad.</a:t>
            </a:r>
            <a:endParaRPr/>
          </a:p>
        </p:txBody>
      </p:sp>
      <p:pic>
        <p:nvPicPr>
          <p:cNvPr descr="image.png" id="119" name="Google Shape;119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6775" y="2596604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670250" y="2596604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73725" y="2596604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277350" y="2596604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Selección de </a:t>
            </a:r>
            <a:r>
              <a:rPr b="1" i="0" lang="en-US" sz="3750" u="none" cap="none" strike="noStrik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Tecnologías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8" name="Google Shape;12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6"/>
          <p:cNvSpPr txBox="1"/>
          <p:nvPr/>
        </p:nvSpPr>
        <p:spPr>
          <a:xfrm>
            <a:off x="571500" y="1729382"/>
            <a:ext cx="5286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904875" y="1487679"/>
            <a:ext cx="49530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API Gateway &amp; BFF: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Centralizan las solicitudes y mejoran la seguridad.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904875" y="2348501"/>
            <a:ext cx="49530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Event-Driven (EDA):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Evita bloqueos mediante tareas asíncronas.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904875" y="3209323"/>
            <a:ext cx="49530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Repository &amp; Factory: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Persistencia limpia y creación flexible de objetos.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904875" y="4070145"/>
            <a:ext cx="49530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Circuit Breaker: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Previene fallos en cascada entre los servicios.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571500" y="5239345"/>
            <a:ext cx="114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Patrones de </a:t>
            </a:r>
            <a:r>
              <a:rPr b="1" i="0" lang="en-US" sz="3750" u="none" cap="none" strike="noStrik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Arquitectura</a:t>
            </a:r>
            <a:endParaRPr/>
          </a:p>
        </p:txBody>
      </p:sp>
      <p:pic>
        <p:nvPicPr>
          <p:cNvPr id="136" name="Google Shape;136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57875" y="1275750"/>
            <a:ext cx="5915025" cy="4444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7"/>
          <p:cNvSpPr txBox="1"/>
          <p:nvPr/>
        </p:nvSpPr>
        <p:spPr>
          <a:xfrm>
            <a:off x="949388" y="1086163"/>
            <a:ext cx="4530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09575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Sincrónica (REST)</a:t>
            </a:r>
            <a:endParaRPr/>
          </a:p>
        </p:txBody>
      </p:sp>
      <p:sp>
        <p:nvSpPr>
          <p:cNvPr id="142" name="Google Shape;142;p17"/>
          <p:cNvSpPr/>
          <p:nvPr/>
        </p:nvSpPr>
        <p:spPr>
          <a:xfrm>
            <a:off x="949388" y="1594708"/>
            <a:ext cx="4314900" cy="192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949350" y="1613908"/>
            <a:ext cx="4314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93088" y="3911238"/>
            <a:ext cx="4530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47675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Asíncrona (RabbitMQ)</a:t>
            </a:r>
            <a:endParaRPr/>
          </a:p>
        </p:txBody>
      </p:sp>
      <p:sp>
        <p:nvSpPr>
          <p:cNvPr id="145" name="Google Shape;145;p17"/>
          <p:cNvSpPr/>
          <p:nvPr/>
        </p:nvSpPr>
        <p:spPr>
          <a:xfrm>
            <a:off x="893088" y="4419783"/>
            <a:ext cx="4314900" cy="192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46" name="Google Shape;146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9388" y="1105213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7"/>
          <p:cNvSpPr txBox="1"/>
          <p:nvPr/>
        </p:nvSpPr>
        <p:spPr>
          <a:xfrm>
            <a:off x="1282725" y="1691891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Consultas de datos.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1282725" y="2217552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Proceso de matrícula.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1282725" y="2743213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Registro de asistencia.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1282725" y="3268874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Anotación de calificaciones.</a:t>
            </a:r>
            <a:endParaRPr/>
          </a:p>
        </p:txBody>
      </p:sp>
      <p:pic>
        <p:nvPicPr>
          <p:cNvPr descr="image.png" id="151" name="Google Shape;151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93088" y="3930288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 txBox="1"/>
          <p:nvPr/>
        </p:nvSpPr>
        <p:spPr>
          <a:xfrm>
            <a:off x="1334275" y="4516980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Generación de reportes PDF.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1334275" y="5042641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Notificaciones masivas.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1334275" y="5568302"/>
            <a:ext cx="39816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Actualización paralela de promedios al registrar una nueva nota.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949350" y="1710941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949350" y="2236602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949350" y="2762263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949350" y="3287924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1000900" y="4536030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1000900" y="5061691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1000900" y="5587352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571500" y="458688"/>
            <a:ext cx="116016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Flujo de </a:t>
            </a:r>
            <a:r>
              <a:rPr b="1" i="0" lang="en-US" sz="3750" u="none" cap="none" strike="noStrik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Comunicación</a:t>
            </a:r>
            <a:endParaRPr/>
          </a:p>
        </p:txBody>
      </p:sp>
      <p:pic>
        <p:nvPicPr>
          <p:cNvPr id="163" name="Google Shape;163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02900" y="1455462"/>
            <a:ext cx="5943600" cy="427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"/>
          <p:cNvSpPr txBox="1"/>
          <p:nvPr/>
        </p:nvSpPr>
        <p:spPr>
          <a:xfrm>
            <a:off x="571500" y="571500"/>
            <a:ext cx="55506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Infraestructura MVP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571500" y="1524000"/>
            <a:ext cx="528637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Despliegue basado en contenedores </a:t>
            </a: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Docker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gestionados por un clúster </a:t>
            </a: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Kubernetes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170" name="Google Shape;170;p18"/>
          <p:cNvSpPr txBox="1"/>
          <p:nvPr/>
        </p:nvSpPr>
        <p:spPr>
          <a:xfrm>
            <a:off x="904875" y="2384821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Escalabilidad</a:t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904875" y="2829418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Seguridad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904875" y="3274029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Privacidad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571500" y="2403871"/>
            <a:ext cx="1143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571500" y="2848468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571500" y="3293079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pic>
        <p:nvPicPr>
          <p:cNvPr id="176" name="Google Shape;176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78325" y="1841575"/>
            <a:ext cx="8051675" cy="444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1" name="Google Shape;18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50740"/>
            <a:ext cx="3492549" cy="31088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350740"/>
            <a:ext cx="3492549" cy="31088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350740"/>
            <a:ext cx="3492549" cy="310887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9"/>
          <p:cNvSpPr txBox="1"/>
          <p:nvPr/>
        </p:nvSpPr>
        <p:spPr>
          <a:xfrm>
            <a:off x="866775" y="3531840"/>
            <a:ext cx="3047099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Eficiencia</a:t>
            </a:r>
            <a:endParaRPr/>
          </a:p>
        </p:txBody>
      </p:sp>
      <p:sp>
        <p:nvSpPr>
          <p:cNvPr id="186" name="Google Shape;186;p19"/>
          <p:cNvSpPr txBox="1"/>
          <p:nvPr/>
        </p:nvSpPr>
        <p:spPr>
          <a:xfrm>
            <a:off x="866775" y="4040385"/>
            <a:ext cx="2901999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El uso de Spring Boot, React y Kubernetes garantiza un sistema moderno, desacoplado, escalable y altamente resiliente ante fallas.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4645074" y="3531840"/>
            <a:ext cx="3047099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Riesgos y Desafíos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4645074" y="4040385"/>
            <a:ext cx="2901999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Alta complejidad de configuración inicial. La gestión de datos distribuida aumenta la dificultad del debugging en la red interna.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8423374" y="3531840"/>
            <a:ext cx="3047099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Mejoras Futuras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8423374" y="4040385"/>
            <a:ext cx="2901999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Implementación de caché (Redis), monitoreo de logs centralizados (Grafana) y mayor automatización en pipelines CI/CD.</a:t>
            </a:r>
            <a:endParaRPr/>
          </a:p>
        </p:txBody>
      </p:sp>
      <p:pic>
        <p:nvPicPr>
          <p:cNvPr descr="image.png" id="191" name="Google Shape;191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75" y="277936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45074" y="277936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23374" y="2779365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9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5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Evaluación del </a:t>
            </a:r>
            <a:r>
              <a:rPr b="1" i="0" lang="en-US" sz="3750" u="none" cap="none" strike="noStrik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MVP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9" name="Google Shape;19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86000" y="3026271"/>
            <a:ext cx="7620000" cy="2866429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0"/>
          <p:cNvSpPr txBox="1"/>
          <p:nvPr/>
        </p:nvSpPr>
        <p:spPr>
          <a:xfrm>
            <a:off x="295275" y="965150"/>
            <a:ext cx="1160145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750" u="none" cap="none" strike="noStrik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¿Preguntas?</a:t>
            </a:r>
            <a:endParaRPr/>
          </a:p>
        </p:txBody>
      </p:sp>
      <p:sp>
        <p:nvSpPr>
          <p:cNvPr id="202" name="Google Shape;202;p20"/>
          <p:cNvSpPr txBox="1"/>
          <p:nvPr/>
        </p:nvSpPr>
        <p:spPr>
          <a:xfrm>
            <a:off x="571500" y="2184350"/>
            <a:ext cx="110490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Gracias por su atención</a:t>
            </a:r>
            <a:endParaRPr/>
          </a:p>
        </p:txBody>
      </p:sp>
      <p:sp>
        <p:nvSpPr>
          <p:cNvPr id="203" name="Google Shape;203;p20"/>
          <p:cNvSpPr txBox="1"/>
          <p:nvPr/>
        </p:nvSpPr>
        <p:spPr>
          <a:xfrm>
            <a:off x="2581275" y="3321546"/>
            <a:ext cx="738092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Bibliografía de Referencia: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2581275" y="3693021"/>
            <a:ext cx="70294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 Fowler, M. (2018). </a:t>
            </a:r>
            <a:r>
              <a:rPr b="0" i="1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Microservices Patterns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Manning Publications.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2581275" y="4104382"/>
            <a:ext cx="70294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 Newman, S. (2021). </a:t>
            </a:r>
            <a:r>
              <a:rPr b="0" i="1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Building Microservices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O'Reilly Media.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2581275" y="4515742"/>
            <a:ext cx="70294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 Richardson, C. (2020). </a:t>
            </a:r>
            <a:r>
              <a:rPr b="0" i="1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Microservices Patterns</a:t>
            </a: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Manning Publications.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2581275" y="4927103"/>
            <a:ext cx="702945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 Documentación Oficial: Spring Framework, React.dev, PostgreSQL y Kubernetes.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