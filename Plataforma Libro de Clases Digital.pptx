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embeddedFontLst>
    <p:embeddedFont>
      <p:font typeface="Urbanist" panose="020B0604020202020204" charset="0"/>
      <p:regular r:id="rId11"/>
      <p:bold r:id="rId12"/>
      <p:italic r:id="rId13"/>
      <p:boldItalic r:id="rId1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3.fntdata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2.fntdata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1.fntdata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5" name="Google Shape;105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6" name="Google Shape;126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9" name="Google Shape;139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6" name="Google Shape;166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9" name="Google Shape;179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7" name="Google Shape;197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6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2.png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Relationship Id="rId9" Type="http://schemas.openxmlformats.org/officeDocument/2006/relationships/image" Target="../media/image2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 txBox="1"/>
          <p:nvPr/>
        </p:nvSpPr>
        <p:spPr>
          <a:xfrm>
            <a:off x="1028700" y="1350019"/>
            <a:ext cx="10591800" cy="3961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50" b="0" i="0" u="none" strike="noStrike" cap="none">
                <a:solidFill>
                  <a:srgbClr val="38BDF8"/>
                </a:solidFill>
                <a:latin typeface="Urbanist"/>
                <a:ea typeface="Urbanist"/>
                <a:cs typeface="Urbanist"/>
                <a:sym typeface="Urbanist"/>
              </a:rPr>
              <a:t>CASO SEMESTRAL</a:t>
            </a:r>
            <a:endParaRPr/>
          </a:p>
        </p:txBody>
      </p:sp>
      <p:sp>
        <p:nvSpPr>
          <p:cNvPr id="85" name="Google Shape;85;p13"/>
          <p:cNvSpPr txBox="1"/>
          <p:nvPr/>
        </p:nvSpPr>
        <p:spPr>
          <a:xfrm>
            <a:off x="1028700" y="1889075"/>
            <a:ext cx="11121390" cy="16457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400" b="1" i="0" u="none" strike="noStrike" cap="none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Plataforma de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5400" b="1" i="0" u="none" strike="noStrike" cap="none">
                <a:solidFill>
                  <a:srgbClr val="38BDF8"/>
                </a:solidFill>
                <a:latin typeface="Urbanist"/>
                <a:ea typeface="Urbanist"/>
                <a:cs typeface="Urbanist"/>
                <a:sym typeface="Urbanist"/>
              </a:rPr>
              <a:t>Libro de Clases Digital</a:t>
            </a:r>
            <a:endParaRPr/>
          </a:p>
        </p:txBody>
      </p:sp>
      <p:sp>
        <p:nvSpPr>
          <p:cNvPr id="86" name="Google Shape;86;p13"/>
          <p:cNvSpPr txBox="1"/>
          <p:nvPr/>
        </p:nvSpPr>
        <p:spPr>
          <a:xfrm>
            <a:off x="1028700" y="3725316"/>
            <a:ext cx="10591800" cy="3961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50" b="0" i="0" u="none" strike="noStrike" cap="non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Colegio Bernardo O'Higgins - Arquitectura MVP</a:t>
            </a:r>
            <a:endParaRPr/>
          </a:p>
        </p:txBody>
      </p:sp>
      <p:sp>
        <p:nvSpPr>
          <p:cNvPr id="87" name="Google Shape;87;p13"/>
          <p:cNvSpPr txBox="1"/>
          <p:nvPr/>
        </p:nvSpPr>
        <p:spPr>
          <a:xfrm>
            <a:off x="1028700" y="4502497"/>
            <a:ext cx="10591800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Integrantes:</a:t>
            </a:r>
            <a:r>
              <a:rPr lang="en-US" sz="165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Vicente Manriquez, Davier Ramos, Dilan Micolta</a:t>
            </a:r>
            <a:endParaRPr/>
          </a:p>
        </p:txBody>
      </p:sp>
      <p:sp>
        <p:nvSpPr>
          <p:cNvPr id="88" name="Google Shape;88;p13"/>
          <p:cNvSpPr txBox="1"/>
          <p:nvPr/>
        </p:nvSpPr>
        <p:spPr>
          <a:xfrm>
            <a:off x="1028700" y="4837658"/>
            <a:ext cx="10591800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Asignatura:</a:t>
            </a:r>
            <a:r>
              <a:rPr lang="en-US" sz="165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Desarrollo Fullstack III (DSY1106) | Sec: 002D</a:t>
            </a:r>
            <a:endParaRPr/>
          </a:p>
        </p:txBody>
      </p:sp>
      <p:sp>
        <p:nvSpPr>
          <p:cNvPr id="89" name="Google Shape;89;p13"/>
          <p:cNvSpPr txBox="1"/>
          <p:nvPr/>
        </p:nvSpPr>
        <p:spPr>
          <a:xfrm>
            <a:off x="1028700" y="5172819"/>
            <a:ext cx="10591800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Fecha:</a:t>
            </a:r>
            <a:r>
              <a:rPr lang="en-US" sz="165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09/04/2026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14"/>
          <p:cNvSpPr txBox="1"/>
          <p:nvPr/>
        </p:nvSpPr>
        <p:spPr>
          <a:xfrm>
            <a:off x="571500" y="571500"/>
            <a:ext cx="555060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750" b="1" i="0" u="none" strike="noStrike" cap="none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Contextualización</a:t>
            </a:r>
            <a:endParaRPr/>
          </a:p>
        </p:txBody>
      </p:sp>
      <p:sp>
        <p:nvSpPr>
          <p:cNvPr id="95" name="Google Shape;95;p14"/>
          <p:cNvSpPr txBox="1"/>
          <p:nvPr/>
        </p:nvSpPr>
        <p:spPr>
          <a:xfrm>
            <a:off x="3452813" y="1591575"/>
            <a:ext cx="5286300" cy="10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Plataforma digital diseñada para reemplazar registros físicos y sistemas fragmentados. El </a:t>
            </a:r>
            <a:r>
              <a:rPr lang="en-US" sz="1650" b="1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MVP de 3 meses</a:t>
            </a:r>
            <a:r>
              <a:rPr lang="en-US" sz="165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centraliza procesos clave:</a:t>
            </a:r>
            <a:endParaRPr/>
          </a:p>
        </p:txBody>
      </p:sp>
      <p:sp>
        <p:nvSpPr>
          <p:cNvPr id="96" name="Google Shape;96;p14"/>
          <p:cNvSpPr txBox="1"/>
          <p:nvPr/>
        </p:nvSpPr>
        <p:spPr>
          <a:xfrm>
            <a:off x="3452813" y="4364540"/>
            <a:ext cx="5286300" cy="66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Conecta a docentes, estudiantes, apoderados y personal administrativo en un entorno unificado y seguro.</a:t>
            </a:r>
            <a:endParaRPr/>
          </a:p>
        </p:txBody>
      </p:sp>
      <p:sp>
        <p:nvSpPr>
          <p:cNvPr id="97" name="Google Shape;97;p14"/>
          <p:cNvSpPr txBox="1"/>
          <p:nvPr/>
        </p:nvSpPr>
        <p:spPr>
          <a:xfrm>
            <a:off x="3786188" y="2787557"/>
            <a:ext cx="4953000" cy="2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Matrícula y asignación de cursos.</a:t>
            </a:r>
            <a:endParaRPr/>
          </a:p>
        </p:txBody>
      </p:sp>
      <p:sp>
        <p:nvSpPr>
          <p:cNvPr id="98" name="Google Shape;98;p14"/>
          <p:cNvSpPr txBox="1"/>
          <p:nvPr/>
        </p:nvSpPr>
        <p:spPr>
          <a:xfrm>
            <a:off x="3786188" y="3313218"/>
            <a:ext cx="4953000" cy="2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Registro de asistencia y calificaciones.</a:t>
            </a:r>
            <a:endParaRPr/>
          </a:p>
        </p:txBody>
      </p:sp>
      <p:sp>
        <p:nvSpPr>
          <p:cNvPr id="99" name="Google Shape;99;p14"/>
          <p:cNvSpPr txBox="1"/>
          <p:nvPr/>
        </p:nvSpPr>
        <p:spPr>
          <a:xfrm>
            <a:off x="3786188" y="3838879"/>
            <a:ext cx="4953000" cy="2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Generación de reportes PDF.</a:t>
            </a:r>
            <a:endParaRPr/>
          </a:p>
        </p:txBody>
      </p:sp>
      <p:sp>
        <p:nvSpPr>
          <p:cNvPr id="100" name="Google Shape;100;p14"/>
          <p:cNvSpPr txBox="1"/>
          <p:nvPr/>
        </p:nvSpPr>
        <p:spPr>
          <a:xfrm>
            <a:off x="3452813" y="2806607"/>
            <a:ext cx="114300" cy="2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38BDF8"/>
                </a:solidFill>
                <a:latin typeface="Arial"/>
                <a:ea typeface="Arial"/>
                <a:cs typeface="Arial"/>
                <a:sym typeface="Arial"/>
              </a:rPr>
              <a:t></a:t>
            </a:r>
            <a:endParaRPr/>
          </a:p>
        </p:txBody>
      </p:sp>
      <p:sp>
        <p:nvSpPr>
          <p:cNvPr id="101" name="Google Shape;101;p14"/>
          <p:cNvSpPr txBox="1"/>
          <p:nvPr/>
        </p:nvSpPr>
        <p:spPr>
          <a:xfrm>
            <a:off x="3452813" y="3332268"/>
            <a:ext cx="114300" cy="2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38BDF8"/>
                </a:solidFill>
                <a:latin typeface="Arial"/>
                <a:ea typeface="Arial"/>
                <a:cs typeface="Arial"/>
                <a:sym typeface="Arial"/>
              </a:rPr>
              <a:t></a:t>
            </a:r>
            <a:endParaRPr/>
          </a:p>
        </p:txBody>
      </p:sp>
      <p:sp>
        <p:nvSpPr>
          <p:cNvPr id="102" name="Google Shape;102;p14"/>
          <p:cNvSpPr txBox="1"/>
          <p:nvPr/>
        </p:nvSpPr>
        <p:spPr>
          <a:xfrm>
            <a:off x="3452813" y="3857929"/>
            <a:ext cx="114300" cy="2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38BDF8"/>
                </a:solidFill>
                <a:latin typeface="Arial"/>
                <a:ea typeface="Arial"/>
                <a:cs typeface="Arial"/>
                <a:sym typeface="Arial"/>
              </a:rPr>
              <a:t>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7" name="Google Shape;107;p1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167979"/>
            <a:ext cx="2517725" cy="347454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8" name="Google Shape;108;p15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3374975" y="2167979"/>
            <a:ext cx="2517725" cy="347454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15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178450" y="2167979"/>
            <a:ext cx="2517874" cy="3474541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8982075" y="2167979"/>
            <a:ext cx="2638425" cy="3474541"/>
          </a:xfrm>
          <a:prstGeom prst="rect">
            <a:avLst/>
          </a:prstGeom>
          <a:noFill/>
          <a:ln>
            <a:noFill/>
          </a:ln>
        </p:spPr>
      </p:pic>
      <p:sp>
        <p:nvSpPr>
          <p:cNvPr id="111" name="Google Shape;111;p15"/>
          <p:cNvSpPr txBox="1"/>
          <p:nvPr/>
        </p:nvSpPr>
        <p:spPr>
          <a:xfrm>
            <a:off x="866775" y="3349079"/>
            <a:ext cx="2023534" cy="3656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5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E2E8F0"/>
                </a:solidFill>
                <a:latin typeface="Urbanist"/>
                <a:ea typeface="Urbanist"/>
                <a:cs typeface="Urbanist"/>
                <a:sym typeface="Urbanist"/>
              </a:rPr>
              <a:t>Backend</a:t>
            </a:r>
            <a:endParaRPr/>
          </a:p>
        </p:txBody>
      </p:sp>
      <p:sp>
        <p:nvSpPr>
          <p:cNvPr id="112" name="Google Shape;112;p15"/>
          <p:cNvSpPr txBox="1"/>
          <p:nvPr/>
        </p:nvSpPr>
        <p:spPr>
          <a:xfrm>
            <a:off x="866775" y="3857625"/>
            <a:ext cx="1927175" cy="1285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Java 21 &amp; Spring Boot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35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Microservicios estructurados, API Gateway y JPA para persistencia eficiente.</a:t>
            </a:r>
            <a:endParaRPr/>
          </a:p>
        </p:txBody>
      </p:sp>
      <p:sp>
        <p:nvSpPr>
          <p:cNvPr id="113" name="Google Shape;113;p15"/>
          <p:cNvSpPr txBox="1"/>
          <p:nvPr/>
        </p:nvSpPr>
        <p:spPr>
          <a:xfrm>
            <a:off x="3670250" y="3349079"/>
            <a:ext cx="2023534" cy="3656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5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E2E8F0"/>
                </a:solidFill>
                <a:latin typeface="Urbanist"/>
                <a:ea typeface="Urbanist"/>
                <a:cs typeface="Urbanist"/>
                <a:sym typeface="Urbanist"/>
              </a:rPr>
              <a:t>Frontend</a:t>
            </a:r>
            <a:endParaRPr/>
          </a:p>
        </p:txBody>
      </p:sp>
      <p:sp>
        <p:nvSpPr>
          <p:cNvPr id="114" name="Google Shape;114;p15"/>
          <p:cNvSpPr txBox="1"/>
          <p:nvPr/>
        </p:nvSpPr>
        <p:spPr>
          <a:xfrm>
            <a:off x="3670250" y="3857625"/>
            <a:ext cx="1927175" cy="1285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React.js &amp; Vite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35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Interfaces modulares empaquetadas como NPM, optimizando el rendimiento.</a:t>
            </a:r>
            <a:endParaRPr/>
          </a:p>
        </p:txBody>
      </p:sp>
      <p:sp>
        <p:nvSpPr>
          <p:cNvPr id="115" name="Google Shape;115;p15"/>
          <p:cNvSpPr txBox="1"/>
          <p:nvPr/>
        </p:nvSpPr>
        <p:spPr>
          <a:xfrm>
            <a:off x="6473725" y="3349079"/>
            <a:ext cx="2023690" cy="7313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5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E2E8F0"/>
                </a:solidFill>
                <a:latin typeface="Urbanist"/>
                <a:ea typeface="Urbanist"/>
                <a:cs typeface="Urbanist"/>
                <a:sym typeface="Urbanist"/>
              </a:rPr>
              <a:t>Datos &amp; Eventos</a:t>
            </a:r>
            <a:endParaRPr/>
          </a:p>
        </p:txBody>
      </p:sp>
      <p:sp>
        <p:nvSpPr>
          <p:cNvPr id="116" name="Google Shape;116;p15"/>
          <p:cNvSpPr txBox="1"/>
          <p:nvPr/>
        </p:nvSpPr>
        <p:spPr>
          <a:xfrm>
            <a:off x="6473725" y="4223295"/>
            <a:ext cx="1927324" cy="102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PostgreSQL &amp; RabbitMQ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35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Motor relacional robusto y mensajería asíncrona para tareas pesadas.</a:t>
            </a:r>
            <a:endParaRPr/>
          </a:p>
        </p:txBody>
      </p:sp>
      <p:sp>
        <p:nvSpPr>
          <p:cNvPr id="117" name="Google Shape;117;p15"/>
          <p:cNvSpPr txBox="1"/>
          <p:nvPr/>
        </p:nvSpPr>
        <p:spPr>
          <a:xfrm>
            <a:off x="9277350" y="3349079"/>
            <a:ext cx="2150268" cy="3656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5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E2E8F0"/>
                </a:solidFill>
                <a:latin typeface="Urbanist"/>
                <a:ea typeface="Urbanist"/>
                <a:cs typeface="Urbanist"/>
                <a:sym typeface="Urbanist"/>
              </a:rPr>
              <a:t>Infraestructura</a:t>
            </a:r>
            <a:endParaRPr/>
          </a:p>
        </p:txBody>
      </p:sp>
      <p:sp>
        <p:nvSpPr>
          <p:cNvPr id="118" name="Google Shape;118;p15"/>
          <p:cNvSpPr txBox="1"/>
          <p:nvPr/>
        </p:nvSpPr>
        <p:spPr>
          <a:xfrm>
            <a:off x="9277350" y="3857625"/>
            <a:ext cx="2047875" cy="1285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Docker &amp; Kubernetes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35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Contenedores aislados y orquestación para escalabilidad y alta disponibilidad.</a:t>
            </a:r>
            <a:endParaRPr/>
          </a:p>
        </p:txBody>
      </p:sp>
      <p:pic>
        <p:nvPicPr>
          <p:cNvPr id="119" name="Google Shape;119;p15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866775" y="2596604"/>
            <a:ext cx="34290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0" name="Google Shape;120;p15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3670250" y="2596604"/>
            <a:ext cx="45720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1" name="Google Shape;121;p15" descr="image.png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6473725" y="2596604"/>
            <a:ext cx="40005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2" name="Google Shape;122;p15" descr="image.png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9277350" y="2596604"/>
            <a:ext cx="57150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123" name="Google Shape;123;p15"/>
          <p:cNvSpPr txBox="1"/>
          <p:nvPr/>
        </p:nvSpPr>
        <p:spPr>
          <a:xfrm>
            <a:off x="571500" y="571500"/>
            <a:ext cx="1160145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750" b="1" i="0" u="none" strike="noStrike" cap="none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Selección de </a:t>
            </a:r>
            <a:r>
              <a:rPr lang="en-US" sz="3750" b="1" i="0" u="none" strike="noStrike" cap="none">
                <a:solidFill>
                  <a:srgbClr val="38BDF8"/>
                </a:solidFill>
                <a:latin typeface="Urbanist"/>
                <a:ea typeface="Urbanist"/>
                <a:cs typeface="Urbanist"/>
                <a:sym typeface="Urbanist"/>
              </a:rPr>
              <a:t>Tecnologías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8" name="Google Shape;128;p16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34125" y="2000250"/>
            <a:ext cx="5286375" cy="3810000"/>
          </a:xfrm>
          <a:prstGeom prst="rect">
            <a:avLst/>
          </a:prstGeom>
          <a:noFill/>
          <a:ln>
            <a:noFill/>
          </a:ln>
        </p:spPr>
      </p:pic>
      <p:sp>
        <p:nvSpPr>
          <p:cNvPr id="129" name="Google Shape;129;p16"/>
          <p:cNvSpPr txBox="1"/>
          <p:nvPr/>
        </p:nvSpPr>
        <p:spPr>
          <a:xfrm>
            <a:off x="571500" y="1729382"/>
            <a:ext cx="52863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0" name="Google Shape;130;p16"/>
          <p:cNvSpPr txBox="1"/>
          <p:nvPr/>
        </p:nvSpPr>
        <p:spPr>
          <a:xfrm>
            <a:off x="904875" y="1487679"/>
            <a:ext cx="4953000" cy="66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API Gateway &amp; BFF:</a:t>
            </a:r>
            <a:r>
              <a:rPr lang="en-US" sz="165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Centralizan las solicitudes y mejoran la seguridad.</a:t>
            </a:r>
            <a:endParaRPr/>
          </a:p>
        </p:txBody>
      </p:sp>
      <p:sp>
        <p:nvSpPr>
          <p:cNvPr id="131" name="Google Shape;131;p16"/>
          <p:cNvSpPr txBox="1"/>
          <p:nvPr/>
        </p:nvSpPr>
        <p:spPr>
          <a:xfrm>
            <a:off x="904875" y="2348501"/>
            <a:ext cx="4953000" cy="66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Event-Driven (EDA):</a:t>
            </a:r>
            <a:r>
              <a:rPr lang="en-US" sz="165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Evita bloqueos mediante tareas asíncronas.</a:t>
            </a:r>
            <a:endParaRPr/>
          </a:p>
        </p:txBody>
      </p:sp>
      <p:sp>
        <p:nvSpPr>
          <p:cNvPr id="132" name="Google Shape;132;p16"/>
          <p:cNvSpPr txBox="1"/>
          <p:nvPr/>
        </p:nvSpPr>
        <p:spPr>
          <a:xfrm>
            <a:off x="904875" y="3209323"/>
            <a:ext cx="4953000" cy="66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Repository &amp; Factory:</a:t>
            </a:r>
            <a:r>
              <a:rPr lang="en-US" sz="165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Persistencia limpia y creación flexible de objetos.</a:t>
            </a:r>
            <a:endParaRPr/>
          </a:p>
        </p:txBody>
      </p:sp>
      <p:sp>
        <p:nvSpPr>
          <p:cNvPr id="133" name="Google Shape;133;p16"/>
          <p:cNvSpPr txBox="1"/>
          <p:nvPr/>
        </p:nvSpPr>
        <p:spPr>
          <a:xfrm>
            <a:off x="904875" y="4070145"/>
            <a:ext cx="4953000" cy="66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Circuit Breaker:</a:t>
            </a:r>
            <a:r>
              <a:rPr lang="en-US" sz="165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Previene fallos en cascada entre los servicios.</a:t>
            </a:r>
            <a:endParaRPr/>
          </a:p>
        </p:txBody>
      </p:sp>
      <p:sp>
        <p:nvSpPr>
          <p:cNvPr id="134" name="Google Shape;134;p16"/>
          <p:cNvSpPr txBox="1"/>
          <p:nvPr/>
        </p:nvSpPr>
        <p:spPr>
          <a:xfrm>
            <a:off x="571500" y="5239345"/>
            <a:ext cx="1143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5" name="Google Shape;135;p16"/>
          <p:cNvSpPr txBox="1"/>
          <p:nvPr/>
        </p:nvSpPr>
        <p:spPr>
          <a:xfrm>
            <a:off x="571500" y="571500"/>
            <a:ext cx="1160145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750" b="1" i="0" u="none" strike="noStrike" cap="none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Patrones de </a:t>
            </a:r>
            <a:r>
              <a:rPr lang="en-US" sz="3750" b="1" i="0" u="none" strike="noStrike" cap="none">
                <a:solidFill>
                  <a:srgbClr val="38BDF8"/>
                </a:solidFill>
                <a:latin typeface="Urbanist"/>
                <a:ea typeface="Urbanist"/>
                <a:cs typeface="Urbanist"/>
                <a:sym typeface="Urbanist"/>
              </a:rPr>
              <a:t>Arquitectura</a:t>
            </a:r>
            <a:endParaRPr/>
          </a:p>
        </p:txBody>
      </p:sp>
      <p:pic>
        <p:nvPicPr>
          <p:cNvPr id="136" name="Google Shape;136;p16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857875" y="1275750"/>
            <a:ext cx="5915025" cy="4444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7"/>
          <p:cNvSpPr txBox="1"/>
          <p:nvPr/>
        </p:nvSpPr>
        <p:spPr>
          <a:xfrm>
            <a:off x="949388" y="1086163"/>
            <a:ext cx="45306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09575" tIns="0" rIns="0" bIns="0" anchor="t" anchorCtr="0">
            <a:spAutoFit/>
          </a:bodyPr>
          <a:lstStyle/>
          <a:p>
            <a:pPr marL="0" marR="0" lvl="0" indent="0" algn="l" rtl="0">
              <a:lnSpc>
                <a:spcPct val="11995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38BDF8"/>
                </a:solidFill>
                <a:latin typeface="Urbanist"/>
                <a:ea typeface="Urbanist"/>
                <a:cs typeface="Urbanist"/>
                <a:sym typeface="Urbanist"/>
              </a:rPr>
              <a:t>Sincrónica (REST)</a:t>
            </a:r>
            <a:endParaRPr/>
          </a:p>
        </p:txBody>
      </p:sp>
      <p:sp>
        <p:nvSpPr>
          <p:cNvPr id="142" name="Google Shape;142;p17"/>
          <p:cNvSpPr/>
          <p:nvPr/>
        </p:nvSpPr>
        <p:spPr>
          <a:xfrm>
            <a:off x="949388" y="1594708"/>
            <a:ext cx="4314900" cy="1920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p17"/>
          <p:cNvSpPr txBox="1"/>
          <p:nvPr/>
        </p:nvSpPr>
        <p:spPr>
          <a:xfrm>
            <a:off x="949350" y="1613908"/>
            <a:ext cx="43149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4" name="Google Shape;144;p17"/>
          <p:cNvSpPr txBox="1"/>
          <p:nvPr/>
        </p:nvSpPr>
        <p:spPr>
          <a:xfrm>
            <a:off x="893088" y="3911238"/>
            <a:ext cx="45306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47675" tIns="0" rIns="0" bIns="0" anchor="t" anchorCtr="0">
            <a:spAutoFit/>
          </a:bodyPr>
          <a:lstStyle/>
          <a:p>
            <a:pPr marL="0" marR="0" lvl="0" indent="0" algn="l" rtl="0">
              <a:lnSpc>
                <a:spcPct val="11995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38BDF8"/>
                </a:solidFill>
                <a:latin typeface="Urbanist"/>
                <a:ea typeface="Urbanist"/>
                <a:cs typeface="Urbanist"/>
                <a:sym typeface="Urbanist"/>
              </a:rPr>
              <a:t>Asíncrona (RabbitMQ)</a:t>
            </a:r>
            <a:endParaRPr/>
          </a:p>
        </p:txBody>
      </p:sp>
      <p:sp>
        <p:nvSpPr>
          <p:cNvPr id="145" name="Google Shape;145;p17"/>
          <p:cNvSpPr/>
          <p:nvPr/>
        </p:nvSpPr>
        <p:spPr>
          <a:xfrm>
            <a:off x="893088" y="4419783"/>
            <a:ext cx="4314900" cy="1920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46" name="Google Shape;146;p17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49388" y="1105213"/>
            <a:ext cx="266700" cy="304800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17"/>
          <p:cNvSpPr txBox="1"/>
          <p:nvPr/>
        </p:nvSpPr>
        <p:spPr>
          <a:xfrm>
            <a:off x="1282725" y="1691891"/>
            <a:ext cx="3981600" cy="2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Consultas de datos.</a:t>
            </a:r>
            <a:endParaRPr/>
          </a:p>
        </p:txBody>
      </p:sp>
      <p:sp>
        <p:nvSpPr>
          <p:cNvPr id="148" name="Google Shape;148;p17"/>
          <p:cNvSpPr txBox="1"/>
          <p:nvPr/>
        </p:nvSpPr>
        <p:spPr>
          <a:xfrm>
            <a:off x="1282725" y="2217552"/>
            <a:ext cx="3981600" cy="2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Proceso de matrícula.</a:t>
            </a:r>
            <a:endParaRPr/>
          </a:p>
        </p:txBody>
      </p:sp>
      <p:sp>
        <p:nvSpPr>
          <p:cNvPr id="149" name="Google Shape;149;p17"/>
          <p:cNvSpPr txBox="1"/>
          <p:nvPr/>
        </p:nvSpPr>
        <p:spPr>
          <a:xfrm>
            <a:off x="1282725" y="2743213"/>
            <a:ext cx="3981600" cy="2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Registro de asistencia.</a:t>
            </a:r>
            <a:endParaRPr/>
          </a:p>
        </p:txBody>
      </p:sp>
      <p:sp>
        <p:nvSpPr>
          <p:cNvPr id="150" name="Google Shape;150;p17"/>
          <p:cNvSpPr txBox="1"/>
          <p:nvPr/>
        </p:nvSpPr>
        <p:spPr>
          <a:xfrm>
            <a:off x="1282725" y="3268874"/>
            <a:ext cx="3981600" cy="2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Anotación de calificaciones.</a:t>
            </a:r>
            <a:endParaRPr/>
          </a:p>
        </p:txBody>
      </p:sp>
      <p:pic>
        <p:nvPicPr>
          <p:cNvPr id="151" name="Google Shape;151;p17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93088" y="3930288"/>
            <a:ext cx="304800" cy="304800"/>
          </a:xfrm>
          <a:prstGeom prst="rect">
            <a:avLst/>
          </a:prstGeom>
          <a:noFill/>
          <a:ln>
            <a:noFill/>
          </a:ln>
        </p:spPr>
      </p:pic>
      <p:sp>
        <p:nvSpPr>
          <p:cNvPr id="152" name="Google Shape;152;p17"/>
          <p:cNvSpPr txBox="1"/>
          <p:nvPr/>
        </p:nvSpPr>
        <p:spPr>
          <a:xfrm>
            <a:off x="1334275" y="4516980"/>
            <a:ext cx="3981600" cy="2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Generación de reportes PDF.</a:t>
            </a:r>
            <a:endParaRPr/>
          </a:p>
        </p:txBody>
      </p:sp>
      <p:sp>
        <p:nvSpPr>
          <p:cNvPr id="153" name="Google Shape;153;p17"/>
          <p:cNvSpPr txBox="1"/>
          <p:nvPr/>
        </p:nvSpPr>
        <p:spPr>
          <a:xfrm>
            <a:off x="1334275" y="5042641"/>
            <a:ext cx="3981600" cy="2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Notificaciones masivas.</a:t>
            </a:r>
            <a:endParaRPr/>
          </a:p>
        </p:txBody>
      </p:sp>
      <p:sp>
        <p:nvSpPr>
          <p:cNvPr id="154" name="Google Shape;154;p17"/>
          <p:cNvSpPr txBox="1"/>
          <p:nvPr/>
        </p:nvSpPr>
        <p:spPr>
          <a:xfrm>
            <a:off x="1334275" y="5568302"/>
            <a:ext cx="3981600" cy="66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Actualización paralela de promedios al registrar una nueva nota.</a:t>
            </a:r>
            <a:endParaRPr/>
          </a:p>
        </p:txBody>
      </p:sp>
      <p:sp>
        <p:nvSpPr>
          <p:cNvPr id="155" name="Google Shape;155;p17"/>
          <p:cNvSpPr txBox="1"/>
          <p:nvPr/>
        </p:nvSpPr>
        <p:spPr>
          <a:xfrm>
            <a:off x="949350" y="1710941"/>
            <a:ext cx="114300" cy="2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38BDF8"/>
                </a:solidFill>
                <a:latin typeface="Arial"/>
                <a:ea typeface="Arial"/>
                <a:cs typeface="Arial"/>
                <a:sym typeface="Arial"/>
              </a:rPr>
              <a:t></a:t>
            </a:r>
            <a:endParaRPr/>
          </a:p>
        </p:txBody>
      </p:sp>
      <p:sp>
        <p:nvSpPr>
          <p:cNvPr id="156" name="Google Shape;156;p17"/>
          <p:cNvSpPr txBox="1"/>
          <p:nvPr/>
        </p:nvSpPr>
        <p:spPr>
          <a:xfrm>
            <a:off x="949350" y="2236602"/>
            <a:ext cx="114300" cy="2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38BDF8"/>
                </a:solidFill>
                <a:latin typeface="Arial"/>
                <a:ea typeface="Arial"/>
                <a:cs typeface="Arial"/>
                <a:sym typeface="Arial"/>
              </a:rPr>
              <a:t></a:t>
            </a:r>
            <a:endParaRPr/>
          </a:p>
        </p:txBody>
      </p:sp>
      <p:sp>
        <p:nvSpPr>
          <p:cNvPr id="157" name="Google Shape;157;p17"/>
          <p:cNvSpPr txBox="1"/>
          <p:nvPr/>
        </p:nvSpPr>
        <p:spPr>
          <a:xfrm>
            <a:off x="949350" y="2762263"/>
            <a:ext cx="114300" cy="2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38BDF8"/>
                </a:solidFill>
                <a:latin typeface="Arial"/>
                <a:ea typeface="Arial"/>
                <a:cs typeface="Arial"/>
                <a:sym typeface="Arial"/>
              </a:rPr>
              <a:t></a:t>
            </a:r>
            <a:endParaRPr/>
          </a:p>
        </p:txBody>
      </p:sp>
      <p:sp>
        <p:nvSpPr>
          <p:cNvPr id="158" name="Google Shape;158;p17"/>
          <p:cNvSpPr txBox="1"/>
          <p:nvPr/>
        </p:nvSpPr>
        <p:spPr>
          <a:xfrm>
            <a:off x="949350" y="3287924"/>
            <a:ext cx="114300" cy="2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38BDF8"/>
                </a:solidFill>
                <a:latin typeface="Arial"/>
                <a:ea typeface="Arial"/>
                <a:cs typeface="Arial"/>
                <a:sym typeface="Arial"/>
              </a:rPr>
              <a:t></a:t>
            </a:r>
            <a:endParaRPr/>
          </a:p>
        </p:txBody>
      </p:sp>
      <p:sp>
        <p:nvSpPr>
          <p:cNvPr id="159" name="Google Shape;159;p17"/>
          <p:cNvSpPr txBox="1"/>
          <p:nvPr/>
        </p:nvSpPr>
        <p:spPr>
          <a:xfrm>
            <a:off x="1000900" y="4536030"/>
            <a:ext cx="114300" cy="2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38BDF8"/>
                </a:solidFill>
                <a:latin typeface="Arial"/>
                <a:ea typeface="Arial"/>
                <a:cs typeface="Arial"/>
                <a:sym typeface="Arial"/>
              </a:rPr>
              <a:t></a:t>
            </a:r>
            <a:endParaRPr/>
          </a:p>
        </p:txBody>
      </p:sp>
      <p:sp>
        <p:nvSpPr>
          <p:cNvPr id="160" name="Google Shape;160;p17"/>
          <p:cNvSpPr txBox="1"/>
          <p:nvPr/>
        </p:nvSpPr>
        <p:spPr>
          <a:xfrm>
            <a:off x="1000900" y="5061691"/>
            <a:ext cx="114300" cy="2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38BDF8"/>
                </a:solidFill>
                <a:latin typeface="Arial"/>
                <a:ea typeface="Arial"/>
                <a:cs typeface="Arial"/>
                <a:sym typeface="Arial"/>
              </a:rPr>
              <a:t></a:t>
            </a:r>
            <a:endParaRPr/>
          </a:p>
        </p:txBody>
      </p:sp>
      <p:sp>
        <p:nvSpPr>
          <p:cNvPr id="161" name="Google Shape;161;p17"/>
          <p:cNvSpPr txBox="1"/>
          <p:nvPr/>
        </p:nvSpPr>
        <p:spPr>
          <a:xfrm>
            <a:off x="1000900" y="5587352"/>
            <a:ext cx="114300" cy="2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38BDF8"/>
                </a:solidFill>
                <a:latin typeface="Arial"/>
                <a:ea typeface="Arial"/>
                <a:cs typeface="Arial"/>
                <a:sym typeface="Arial"/>
              </a:rPr>
              <a:t></a:t>
            </a:r>
            <a:endParaRPr/>
          </a:p>
        </p:txBody>
      </p:sp>
      <p:sp>
        <p:nvSpPr>
          <p:cNvPr id="162" name="Google Shape;162;p17"/>
          <p:cNvSpPr txBox="1"/>
          <p:nvPr/>
        </p:nvSpPr>
        <p:spPr>
          <a:xfrm>
            <a:off x="571500" y="458688"/>
            <a:ext cx="1160160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750" b="1" i="0" u="none" strike="noStrike" cap="none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Flujo de </a:t>
            </a:r>
            <a:r>
              <a:rPr lang="en-US" sz="3750" b="1" i="0" u="none" strike="noStrike" cap="none">
                <a:solidFill>
                  <a:srgbClr val="38BDF8"/>
                </a:solidFill>
                <a:latin typeface="Urbanist"/>
                <a:ea typeface="Urbanist"/>
                <a:cs typeface="Urbanist"/>
                <a:sym typeface="Urbanist"/>
              </a:rPr>
              <a:t>Comunicación</a:t>
            </a:r>
            <a:endParaRPr/>
          </a:p>
        </p:txBody>
      </p:sp>
      <p:pic>
        <p:nvPicPr>
          <p:cNvPr id="163" name="Google Shape;163;p17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902900" y="1455462"/>
            <a:ext cx="5943600" cy="427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18"/>
          <p:cNvSpPr txBox="1"/>
          <p:nvPr/>
        </p:nvSpPr>
        <p:spPr>
          <a:xfrm>
            <a:off x="571500" y="571500"/>
            <a:ext cx="5550600" cy="5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750" b="1" i="0" u="none" strike="noStrike" cap="none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Infraestructura MVP</a:t>
            </a:r>
            <a:endParaRPr/>
          </a:p>
        </p:txBody>
      </p:sp>
      <p:sp>
        <p:nvSpPr>
          <p:cNvPr id="169" name="Google Shape;169;p18"/>
          <p:cNvSpPr txBox="1"/>
          <p:nvPr/>
        </p:nvSpPr>
        <p:spPr>
          <a:xfrm>
            <a:off x="571500" y="1524000"/>
            <a:ext cx="5286375" cy="6703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Despliegue basado en contenedores </a:t>
            </a:r>
            <a:r>
              <a:rPr lang="en-US" sz="1650" b="1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Docker</a:t>
            </a:r>
            <a:r>
              <a:rPr lang="en-US" sz="165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gestionados por un clúster </a:t>
            </a:r>
            <a:r>
              <a:rPr lang="en-US" sz="1650" b="1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Kubernetes</a:t>
            </a:r>
            <a:r>
              <a:rPr lang="en-US" sz="165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.</a:t>
            </a:r>
            <a:endParaRPr/>
          </a:p>
        </p:txBody>
      </p:sp>
      <p:sp>
        <p:nvSpPr>
          <p:cNvPr id="170" name="Google Shape;170;p18"/>
          <p:cNvSpPr txBox="1"/>
          <p:nvPr/>
        </p:nvSpPr>
        <p:spPr>
          <a:xfrm>
            <a:off x="904875" y="2384821"/>
            <a:ext cx="4953000" cy="2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Escalabilidad</a:t>
            </a:r>
            <a:endParaRPr/>
          </a:p>
        </p:txBody>
      </p:sp>
      <p:sp>
        <p:nvSpPr>
          <p:cNvPr id="171" name="Google Shape;171;p18"/>
          <p:cNvSpPr txBox="1"/>
          <p:nvPr/>
        </p:nvSpPr>
        <p:spPr>
          <a:xfrm>
            <a:off x="904875" y="2829418"/>
            <a:ext cx="4953000" cy="2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Seguridad</a:t>
            </a:r>
            <a:endParaRPr/>
          </a:p>
        </p:txBody>
      </p:sp>
      <p:sp>
        <p:nvSpPr>
          <p:cNvPr id="172" name="Google Shape;172;p18"/>
          <p:cNvSpPr txBox="1"/>
          <p:nvPr/>
        </p:nvSpPr>
        <p:spPr>
          <a:xfrm>
            <a:off x="904875" y="3274029"/>
            <a:ext cx="4953000" cy="2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Privacidad</a:t>
            </a:r>
            <a:endParaRPr/>
          </a:p>
        </p:txBody>
      </p:sp>
      <p:sp>
        <p:nvSpPr>
          <p:cNvPr id="173" name="Google Shape;173;p18"/>
          <p:cNvSpPr txBox="1"/>
          <p:nvPr/>
        </p:nvSpPr>
        <p:spPr>
          <a:xfrm>
            <a:off x="571500" y="2403871"/>
            <a:ext cx="114300" cy="361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38BDF8"/>
                </a:solidFill>
                <a:latin typeface="Arial"/>
                <a:ea typeface="Arial"/>
                <a:cs typeface="Arial"/>
                <a:sym typeface="Arial"/>
              </a:rPr>
              <a:t></a:t>
            </a:r>
            <a:endParaRPr/>
          </a:p>
        </p:txBody>
      </p:sp>
      <p:sp>
        <p:nvSpPr>
          <p:cNvPr id="174" name="Google Shape;174;p18"/>
          <p:cNvSpPr txBox="1"/>
          <p:nvPr/>
        </p:nvSpPr>
        <p:spPr>
          <a:xfrm>
            <a:off x="571500" y="2848468"/>
            <a:ext cx="114300" cy="2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38BDF8"/>
                </a:solidFill>
                <a:latin typeface="Arial"/>
                <a:ea typeface="Arial"/>
                <a:cs typeface="Arial"/>
                <a:sym typeface="Arial"/>
              </a:rPr>
              <a:t></a:t>
            </a:r>
            <a:endParaRPr/>
          </a:p>
        </p:txBody>
      </p:sp>
      <p:sp>
        <p:nvSpPr>
          <p:cNvPr id="175" name="Google Shape;175;p18"/>
          <p:cNvSpPr txBox="1"/>
          <p:nvPr/>
        </p:nvSpPr>
        <p:spPr>
          <a:xfrm>
            <a:off x="571500" y="3293079"/>
            <a:ext cx="114300" cy="2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38BDF8"/>
                </a:solidFill>
                <a:latin typeface="Arial"/>
                <a:ea typeface="Arial"/>
                <a:cs typeface="Arial"/>
                <a:sym typeface="Arial"/>
              </a:rPr>
              <a:t></a:t>
            </a:r>
            <a:endParaRPr/>
          </a:p>
        </p:txBody>
      </p:sp>
      <p:pic>
        <p:nvPicPr>
          <p:cNvPr id="176" name="Google Shape;176;p1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140325" y="1998030"/>
            <a:ext cx="8051675" cy="4442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1" name="Google Shape;181;p19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2" name="Google Shape;182;p19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350740"/>
            <a:ext cx="3492549" cy="310887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3" name="Google Shape;183;p19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349799" y="2350740"/>
            <a:ext cx="3492549" cy="310887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4" name="Google Shape;184;p19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128099" y="2350740"/>
            <a:ext cx="3492549" cy="3108870"/>
          </a:xfrm>
          <a:prstGeom prst="rect">
            <a:avLst/>
          </a:prstGeom>
          <a:noFill/>
          <a:ln>
            <a:noFill/>
          </a:ln>
        </p:spPr>
      </p:pic>
      <p:sp>
        <p:nvSpPr>
          <p:cNvPr id="185" name="Google Shape;185;p19"/>
          <p:cNvSpPr txBox="1"/>
          <p:nvPr/>
        </p:nvSpPr>
        <p:spPr>
          <a:xfrm>
            <a:off x="866775" y="3531840"/>
            <a:ext cx="3047099" cy="3656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5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E2E8F0"/>
                </a:solidFill>
                <a:latin typeface="Urbanist"/>
                <a:ea typeface="Urbanist"/>
                <a:cs typeface="Urbanist"/>
                <a:sym typeface="Urbanist"/>
              </a:rPr>
              <a:t>Eficiencia</a:t>
            </a:r>
            <a:endParaRPr/>
          </a:p>
        </p:txBody>
      </p:sp>
      <p:sp>
        <p:nvSpPr>
          <p:cNvPr id="186" name="Google Shape;186;p19"/>
          <p:cNvSpPr txBox="1"/>
          <p:nvPr/>
        </p:nvSpPr>
        <p:spPr>
          <a:xfrm>
            <a:off x="866775" y="4040385"/>
            <a:ext cx="2901999" cy="102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El uso de Spring Boot, React y Kubernetes garantiza un sistema moderno, desacoplado, escalable y altamente resiliente ante fallas.</a:t>
            </a:r>
            <a:endParaRPr/>
          </a:p>
        </p:txBody>
      </p:sp>
      <p:sp>
        <p:nvSpPr>
          <p:cNvPr id="187" name="Google Shape;187;p19"/>
          <p:cNvSpPr txBox="1"/>
          <p:nvPr/>
        </p:nvSpPr>
        <p:spPr>
          <a:xfrm>
            <a:off x="4645074" y="3531840"/>
            <a:ext cx="3047099" cy="3656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5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E2E8F0"/>
                </a:solidFill>
                <a:latin typeface="Urbanist"/>
                <a:ea typeface="Urbanist"/>
                <a:cs typeface="Urbanist"/>
                <a:sym typeface="Urbanist"/>
              </a:rPr>
              <a:t>Riesgos y Desafíos</a:t>
            </a:r>
            <a:endParaRPr/>
          </a:p>
        </p:txBody>
      </p:sp>
      <p:sp>
        <p:nvSpPr>
          <p:cNvPr id="188" name="Google Shape;188;p19"/>
          <p:cNvSpPr txBox="1"/>
          <p:nvPr/>
        </p:nvSpPr>
        <p:spPr>
          <a:xfrm>
            <a:off x="4645074" y="4040385"/>
            <a:ext cx="2901999" cy="102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Alta complejidad de configuración inicial. La gestión de datos distribuida aumenta la dificultad del debugging en la red interna.</a:t>
            </a:r>
            <a:endParaRPr/>
          </a:p>
        </p:txBody>
      </p:sp>
      <p:sp>
        <p:nvSpPr>
          <p:cNvPr id="189" name="Google Shape;189;p19"/>
          <p:cNvSpPr txBox="1"/>
          <p:nvPr/>
        </p:nvSpPr>
        <p:spPr>
          <a:xfrm>
            <a:off x="8423374" y="3531840"/>
            <a:ext cx="3047099" cy="3656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5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E2E8F0"/>
                </a:solidFill>
                <a:latin typeface="Urbanist"/>
                <a:ea typeface="Urbanist"/>
                <a:cs typeface="Urbanist"/>
                <a:sym typeface="Urbanist"/>
              </a:rPr>
              <a:t>Mejoras Futuras</a:t>
            </a:r>
            <a:endParaRPr/>
          </a:p>
        </p:txBody>
      </p:sp>
      <p:sp>
        <p:nvSpPr>
          <p:cNvPr id="190" name="Google Shape;190;p19"/>
          <p:cNvSpPr txBox="1"/>
          <p:nvPr/>
        </p:nvSpPr>
        <p:spPr>
          <a:xfrm>
            <a:off x="8423374" y="4040385"/>
            <a:ext cx="2901999" cy="102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Implementación de caché (Redis), monitoreo de logs centralizados (Grafana) y mayor automatización en pipelines CI/CD.</a:t>
            </a:r>
            <a:endParaRPr/>
          </a:p>
        </p:txBody>
      </p:sp>
      <p:pic>
        <p:nvPicPr>
          <p:cNvPr id="191" name="Google Shape;191;p19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866775" y="2779365"/>
            <a:ext cx="45720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2" name="Google Shape;192;p19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4645074" y="2779365"/>
            <a:ext cx="45720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3" name="Google Shape;193;p19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8423374" y="2779365"/>
            <a:ext cx="45720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194" name="Google Shape;194;p19"/>
          <p:cNvSpPr txBox="1"/>
          <p:nvPr/>
        </p:nvSpPr>
        <p:spPr>
          <a:xfrm>
            <a:off x="571500" y="571500"/>
            <a:ext cx="1160145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750" b="1" i="0" u="none" strike="noStrike" cap="none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Evaluación del </a:t>
            </a:r>
            <a:r>
              <a:rPr lang="en-US" sz="3750" b="1" i="0" u="none" strike="noStrike" cap="none">
                <a:solidFill>
                  <a:srgbClr val="38BDF8"/>
                </a:solidFill>
                <a:latin typeface="Urbanist"/>
                <a:ea typeface="Urbanist"/>
                <a:cs typeface="Urbanist"/>
                <a:sym typeface="Urbanist"/>
              </a:rPr>
              <a:t>MVP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9" name="Google Shape;199;p2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0" name="Google Shape;200;p20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286000" y="3026271"/>
            <a:ext cx="7620000" cy="2866429"/>
          </a:xfrm>
          <a:prstGeom prst="rect">
            <a:avLst/>
          </a:prstGeom>
          <a:noFill/>
          <a:ln>
            <a:noFill/>
          </a:ln>
        </p:spPr>
      </p:pic>
      <p:sp>
        <p:nvSpPr>
          <p:cNvPr id="201" name="Google Shape;201;p20"/>
          <p:cNvSpPr txBox="1"/>
          <p:nvPr/>
        </p:nvSpPr>
        <p:spPr>
          <a:xfrm>
            <a:off x="295275" y="965150"/>
            <a:ext cx="11601450" cy="102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750" b="1" i="0" u="none" strike="noStrike" cap="none">
                <a:solidFill>
                  <a:srgbClr val="38BDF8"/>
                </a:solidFill>
                <a:latin typeface="Urbanist"/>
                <a:ea typeface="Urbanist"/>
                <a:cs typeface="Urbanist"/>
                <a:sym typeface="Urbanist"/>
              </a:rPr>
              <a:t>¿Preguntas?</a:t>
            </a:r>
            <a:endParaRPr/>
          </a:p>
        </p:txBody>
      </p:sp>
      <p:sp>
        <p:nvSpPr>
          <p:cNvPr id="202" name="Google Shape;202;p20"/>
          <p:cNvSpPr txBox="1"/>
          <p:nvPr/>
        </p:nvSpPr>
        <p:spPr>
          <a:xfrm>
            <a:off x="571500" y="2184350"/>
            <a:ext cx="11049000" cy="3656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Gracias por su atención</a:t>
            </a:r>
            <a:endParaRPr/>
          </a:p>
        </p:txBody>
      </p:sp>
      <p:sp>
        <p:nvSpPr>
          <p:cNvPr id="203" name="Google Shape;203;p20"/>
          <p:cNvSpPr txBox="1"/>
          <p:nvPr/>
        </p:nvSpPr>
        <p:spPr>
          <a:xfrm>
            <a:off x="2581275" y="3321546"/>
            <a:ext cx="7380922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8BDF8"/>
                </a:solidFill>
                <a:latin typeface="Urbanist"/>
                <a:ea typeface="Urbanist"/>
                <a:cs typeface="Urbanist"/>
                <a:sym typeface="Urbanist"/>
              </a:rPr>
              <a:t>Bibliografía de Referencia:</a:t>
            </a:r>
            <a:endParaRPr/>
          </a:p>
        </p:txBody>
      </p:sp>
      <p:sp>
        <p:nvSpPr>
          <p:cNvPr id="204" name="Google Shape;204;p20"/>
          <p:cNvSpPr txBox="1"/>
          <p:nvPr/>
        </p:nvSpPr>
        <p:spPr>
          <a:xfrm>
            <a:off x="2581275" y="3693021"/>
            <a:ext cx="7029450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• Fowler, M. (2018). </a:t>
            </a:r>
            <a:r>
              <a:rPr lang="en-US" sz="1650" b="0" i="1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Microservices Patterns</a:t>
            </a:r>
            <a:r>
              <a:rPr lang="en-US" sz="165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. Manning Publications.</a:t>
            </a:r>
            <a:endParaRPr/>
          </a:p>
        </p:txBody>
      </p:sp>
      <p:sp>
        <p:nvSpPr>
          <p:cNvPr id="205" name="Google Shape;205;p20"/>
          <p:cNvSpPr txBox="1"/>
          <p:nvPr/>
        </p:nvSpPr>
        <p:spPr>
          <a:xfrm>
            <a:off x="2581275" y="4104382"/>
            <a:ext cx="7029450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• Newman, S. (2021). </a:t>
            </a:r>
            <a:r>
              <a:rPr lang="en-US" sz="1650" b="0" i="1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Building Microservices</a:t>
            </a:r>
            <a:r>
              <a:rPr lang="en-US" sz="165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. O'Reilly Media.</a:t>
            </a:r>
            <a:endParaRPr/>
          </a:p>
        </p:txBody>
      </p:sp>
      <p:sp>
        <p:nvSpPr>
          <p:cNvPr id="206" name="Google Shape;206;p20"/>
          <p:cNvSpPr txBox="1"/>
          <p:nvPr/>
        </p:nvSpPr>
        <p:spPr>
          <a:xfrm>
            <a:off x="2581275" y="4515742"/>
            <a:ext cx="7029450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• Richardson, C. (2020). </a:t>
            </a:r>
            <a:r>
              <a:rPr lang="en-US" sz="1650" b="0" i="1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Microservices Patterns</a:t>
            </a:r>
            <a:r>
              <a:rPr lang="en-US" sz="165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. Manning Publications.</a:t>
            </a:r>
            <a:endParaRPr/>
          </a:p>
        </p:txBody>
      </p:sp>
      <p:sp>
        <p:nvSpPr>
          <p:cNvPr id="207" name="Google Shape;207;p20"/>
          <p:cNvSpPr txBox="1"/>
          <p:nvPr/>
        </p:nvSpPr>
        <p:spPr>
          <a:xfrm>
            <a:off x="2581275" y="4927103"/>
            <a:ext cx="7029450" cy="6703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• Documentación Oficial: Spring Framework, React.dev, PostgreSQL y Kubernetes.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435</Words>
  <Application>Microsoft Office PowerPoint</Application>
  <PresentationFormat>Widescreen</PresentationFormat>
  <Paragraphs>68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Calibri</vt:lpstr>
      <vt:lpstr>Urbanist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VICENTE MARTIN MANRIQUEZ ROJAS</cp:lastModifiedBy>
  <cp:revision>1</cp:revision>
  <dcterms:modified xsi:type="dcterms:W3CDTF">2026-04-07T02:40:00Z</dcterms:modified>
</cp:coreProperties>
</file>